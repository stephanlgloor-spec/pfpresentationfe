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de-CH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/>
          <p:nvPr>
            <p:ph idx="2" type="sldImg"/>
          </p:nvPr>
        </p:nvSpPr>
        <p:spPr>
          <a:xfrm>
            <a:off x="685800" y="1143000"/>
            <a:ext cx="548532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:notes"/>
          <p:cNvSpPr txBox="1"/>
          <p:nvPr/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de-C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/>
          <p:nvPr>
            <p:ph idx="2" type="sldImg"/>
          </p:nvPr>
        </p:nvSpPr>
        <p:spPr>
          <a:xfrm>
            <a:off x="685800" y="1143000"/>
            <a:ext cx="548532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:notes"/>
          <p:cNvSpPr txBox="1"/>
          <p:nvPr/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de-C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/>
          <p:nvPr>
            <p:ph idx="2" type="sldImg"/>
          </p:nvPr>
        </p:nvSpPr>
        <p:spPr>
          <a:xfrm>
            <a:off x="685800" y="1143000"/>
            <a:ext cx="548532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:notes"/>
          <p:cNvSpPr txBox="1"/>
          <p:nvPr/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de-C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685800" y="1143000"/>
            <a:ext cx="548532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:notes"/>
          <p:cNvSpPr txBox="1"/>
          <p:nvPr/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de-C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685800" y="1143000"/>
            <a:ext cx="548532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:notes"/>
          <p:cNvSpPr txBox="1"/>
          <p:nvPr/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de-C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685800" y="1143000"/>
            <a:ext cx="548532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:notes"/>
          <p:cNvSpPr txBox="1"/>
          <p:nvPr/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de-C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/>
          <p:nvPr>
            <p:ph idx="2" type="sldImg"/>
          </p:nvPr>
        </p:nvSpPr>
        <p:spPr>
          <a:xfrm>
            <a:off x="685800" y="1143000"/>
            <a:ext cx="548532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7:notes"/>
          <p:cNvSpPr txBox="1"/>
          <p:nvPr/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de-C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/>
          <p:nvPr>
            <p:ph idx="2" type="sldImg"/>
          </p:nvPr>
        </p:nvSpPr>
        <p:spPr>
          <a:xfrm>
            <a:off x="685800" y="1143000"/>
            <a:ext cx="548532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1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8:notes"/>
          <p:cNvSpPr txBox="1"/>
          <p:nvPr/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de-C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838080" y="1825560"/>
            <a:ext cx="5131080" cy="435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6226200" y="1825560"/>
            <a:ext cx="5131080" cy="435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idx="1" type="subTitle"/>
          </p:nvPr>
        </p:nvSpPr>
        <p:spPr>
          <a:xfrm>
            <a:off x="838080" y="365040"/>
            <a:ext cx="10514520" cy="6140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"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2" type="body"/>
          </p:nvPr>
        </p:nvSpPr>
        <p:spPr>
          <a:xfrm>
            <a:off x="6226200" y="1825560"/>
            <a:ext cx="5131080" cy="435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3"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" type="body"/>
          </p:nvPr>
        </p:nvSpPr>
        <p:spPr>
          <a:xfrm>
            <a:off x="838080" y="1825560"/>
            <a:ext cx="5131080" cy="435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3"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2"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3" type="body"/>
          </p:nvPr>
        </p:nvSpPr>
        <p:spPr>
          <a:xfrm>
            <a:off x="838080" y="4098240"/>
            <a:ext cx="1051452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838080" y="1825560"/>
            <a:ext cx="1051452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2" type="body"/>
          </p:nvPr>
        </p:nvSpPr>
        <p:spPr>
          <a:xfrm>
            <a:off x="838080" y="4098240"/>
            <a:ext cx="1051452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"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2"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3"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4"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" type="body"/>
          </p:nvPr>
        </p:nvSpPr>
        <p:spPr>
          <a:xfrm>
            <a:off x="838080" y="1825560"/>
            <a:ext cx="338544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2" type="body"/>
          </p:nvPr>
        </p:nvSpPr>
        <p:spPr>
          <a:xfrm>
            <a:off x="4393080" y="1825560"/>
            <a:ext cx="338544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3" type="body"/>
          </p:nvPr>
        </p:nvSpPr>
        <p:spPr>
          <a:xfrm>
            <a:off x="7948440" y="1825560"/>
            <a:ext cx="338544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4" type="body"/>
          </p:nvPr>
        </p:nvSpPr>
        <p:spPr>
          <a:xfrm>
            <a:off x="838080" y="4098240"/>
            <a:ext cx="338544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5" type="body"/>
          </p:nvPr>
        </p:nvSpPr>
        <p:spPr>
          <a:xfrm>
            <a:off x="4393080" y="4098240"/>
            <a:ext cx="338544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6" type="body"/>
          </p:nvPr>
        </p:nvSpPr>
        <p:spPr>
          <a:xfrm>
            <a:off x="7948440" y="4098240"/>
            <a:ext cx="338544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63360" y="6642000"/>
            <a:ext cx="1487880" cy="152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CH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Confidential- Oracle Internal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" name="Google Shape;14;p1"/>
          <p:cNvSpPr txBox="1"/>
          <p:nvPr>
            <p:ph idx="11" type="ftr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0" y="6602760"/>
            <a:ext cx="1614960" cy="21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/>
        </p:nvSpPr>
        <p:spPr>
          <a:xfrm>
            <a:off x="4476960" y="144000"/>
            <a:ext cx="459504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CH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Profil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4500000" y="1980000"/>
            <a:ext cx="7559640" cy="42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24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de-CH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Mein Name ist Stephan Gloor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28240" lvl="0" marL="228600" marR="0" rtl="0" algn="l">
              <a:lnSpc>
                <a:spcPct val="90000"/>
              </a:lnSpc>
              <a:spcBef>
                <a:spcPts val="2418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de-CH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Senior Software-Entwickler und Test Automation Engineer</a:t>
            </a:r>
            <a:br>
              <a:rPr b="0" i="0" lang="de-CH" sz="1800" u="none" cap="none" strike="noStrike"/>
            </a:br>
            <a:r>
              <a:rPr b="0" i="0" lang="de-CH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(Dipl. Ing. ETH mit Weiterbildungen)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28240" lvl="0" marL="228600" marR="0" rtl="0" algn="l">
              <a:lnSpc>
                <a:spcPct val="90000"/>
              </a:lnSpc>
              <a:spcBef>
                <a:spcPts val="2608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de-CH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Bisher bei der Oracle  Corporation – seit Ende Januar 26</a:t>
            </a:r>
            <a:br>
              <a:rPr b="0" i="0" lang="de-CH" sz="1800" u="none" cap="none" strike="noStrike"/>
            </a:br>
            <a:r>
              <a:rPr b="0" i="0" lang="de-CH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· Teilnahme am Outplacement-Programm </a:t>
            </a:r>
            <a:br>
              <a:rPr b="0" i="0" lang="de-CH" sz="1800" u="none" cap="none" strike="noStrike"/>
            </a:br>
            <a:r>
              <a:rPr b="0" i="0" lang="de-CH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· Ehrenamtliche Tätigkeit bei Tandem: Coaching von Immigranten </a:t>
            </a:r>
            <a:br>
              <a:rPr b="0" i="0" lang="de-CH" sz="1800" u="none" cap="none" strike="noStrike"/>
            </a:br>
            <a:r>
              <a:rPr b="0" i="0" lang="de-CH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· Berufliche Weiterbildung im Bereich Test Engineering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28240" lvl="0" marL="228600" marR="0" rtl="0" algn="l">
              <a:lnSpc>
                <a:spcPct val="90000"/>
              </a:lnSpc>
              <a:spcBef>
                <a:spcPts val="21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de-CH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und auf Stellensuche !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28240" lvl="0" marL="228600" marR="0" rtl="0" algn="l">
              <a:lnSpc>
                <a:spcPct val="90000"/>
              </a:lnSpc>
              <a:spcBef>
                <a:spcPts val="199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de-CH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LinkedIn: https://www.linkedin.com/in/stephan-gloor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993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0" y="0"/>
            <a:ext cx="4166280" cy="6856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4"/>
          <p:cNvPicPr preferRelativeResize="0"/>
          <p:nvPr/>
        </p:nvPicPr>
        <p:blipFill rotWithShape="1">
          <a:blip r:embed="rId3">
            <a:alphaModFix/>
          </a:blip>
          <a:srcRect b="1835" l="0" r="0" t="6843"/>
          <a:stretch/>
        </p:blipFill>
        <p:spPr>
          <a:xfrm>
            <a:off x="768960" y="786600"/>
            <a:ext cx="2830680" cy="3533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/>
          <p:nvPr/>
        </p:nvSpPr>
        <p:spPr>
          <a:xfrm>
            <a:off x="489240" y="1118880"/>
            <a:ext cx="4618800" cy="46188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1171080" y="1396800"/>
            <a:ext cx="3328560" cy="4063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de-CH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Test-Konzept</a:t>
            </a:r>
            <a:br>
              <a:rPr b="0" i="0" lang="de-CH" sz="1800" u="none" cap="none" strike="noStrike"/>
            </a:br>
            <a:r>
              <a:rPr b="1" i="0" lang="de-CH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de-CH" sz="3600" u="none" cap="none" strike="noStrike">
                <a:solidFill>
                  <a:srgbClr val="FFCC00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r>
              <a:rPr b="1" i="0" lang="de-CH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de-CH" sz="36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de-CH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910080" y="4781160"/>
            <a:ext cx="545040" cy="54504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 txBox="1"/>
          <p:nvPr/>
        </p:nvSpPr>
        <p:spPr>
          <a:xfrm>
            <a:off x="5040000" y="1584000"/>
            <a:ext cx="6768000" cy="48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24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Char char="•"/>
            </a:pPr>
            <a:r>
              <a:rPr b="0" i="0" lang="de-CH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e2e-Tests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de-CH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keine vollständige Abdeckung ( &lt; 80 %)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de-CH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Prüfen ob Navigation funktioniert 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de-CH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kritische Funktionen (</a:t>
            </a:r>
            <a:r>
              <a:rPr b="0" i="0" lang="de-CH" sz="28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r>
              <a:rPr b="0" i="0" lang="de-CH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testen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de-CH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– Typen modular (fpui-widget)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de-CH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Relevante Auflösungen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28600" lvl="1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de-CH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28600" lvl="1" marL="4572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de-CH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Tablet 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28600" lvl="1" marL="4572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de-CH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Notebook 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28600" lvl="1" marL="4572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de-CH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PC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000" y="720000"/>
            <a:ext cx="3363120" cy="1642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66960" y="83880"/>
            <a:ext cx="2057040" cy="2076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/>
          <p:nvPr/>
        </p:nvSpPr>
        <p:spPr>
          <a:xfrm>
            <a:off x="489240" y="1118880"/>
            <a:ext cx="4618800" cy="46188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 txBox="1"/>
          <p:nvPr/>
        </p:nvSpPr>
        <p:spPr>
          <a:xfrm>
            <a:off x="1171080" y="1396800"/>
            <a:ext cx="3328560" cy="4063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de-CH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Test-Konzept</a:t>
            </a:r>
            <a:br>
              <a:rPr b="0" i="0" lang="de-CH" sz="1800" u="none" cap="none" strike="noStrike"/>
            </a:br>
            <a:r>
              <a:rPr b="1" i="0" lang="de-CH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de-CH" sz="36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r>
              <a:rPr b="1" i="0" lang="de-CH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de-CH" sz="36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910080" y="4781160"/>
            <a:ext cx="545040" cy="54504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 txBox="1"/>
          <p:nvPr/>
        </p:nvSpPr>
        <p:spPr>
          <a:xfrm>
            <a:off x="5040000" y="1584000"/>
            <a:ext cx="6768000" cy="48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24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Char char="•"/>
            </a:pPr>
            <a:r>
              <a:rPr b="0" i="0" lang="de-CH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Unit-Tests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de-CH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hohe Abdeckung ( ~ 80 %)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de-CH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API -Calls werden gemockt 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28600" lvl="1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de-CH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Fehlerbehandlung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de-CH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– Typen modular (fpui-widget) als DOM -Modell (Jest) 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000" y="720000"/>
            <a:ext cx="3363120" cy="1642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66960" y="83880"/>
            <a:ext cx="2057040" cy="2076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/>
          <p:nvPr/>
        </p:nvSpPr>
        <p:spPr>
          <a:xfrm>
            <a:off x="489240" y="1118880"/>
            <a:ext cx="4618800" cy="46188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 txBox="1"/>
          <p:nvPr/>
        </p:nvSpPr>
        <p:spPr>
          <a:xfrm>
            <a:off x="1171080" y="1396800"/>
            <a:ext cx="3328560" cy="4063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de-CH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Test-Konzept</a:t>
            </a:r>
            <a:br>
              <a:rPr b="0" i="0" lang="de-CH" sz="1800" u="none" cap="none" strike="noStrike"/>
            </a:br>
            <a:r>
              <a:rPr b="1" i="0" lang="de-CH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de-CH" sz="36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de-CH" sz="36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r>
              <a:rPr b="1" i="0" lang="de-CH" sz="36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910080" y="4781160"/>
            <a:ext cx="545040" cy="54504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 txBox="1"/>
          <p:nvPr/>
        </p:nvSpPr>
        <p:spPr>
          <a:xfrm>
            <a:off x="5256000" y="3528000"/>
            <a:ext cx="6768000" cy="48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</a:pPr>
            <a:r>
              <a:rPr b="0" i="0" lang="de-CH" sz="1800" u="none" cap="none" strike="noStrike">
                <a:latin typeface="Arial"/>
                <a:ea typeface="Arial"/>
                <a:cs typeface="Arial"/>
                <a:sym typeface="Arial"/>
              </a:rPr>
              <a:t>Unit-Tests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</a:pPr>
            <a:r>
              <a:rPr b="0" i="0" lang="de-CH" sz="1800" u="none" cap="none" strike="noStrike">
                <a:latin typeface="Arial"/>
                <a:ea typeface="Arial"/>
                <a:cs typeface="Arial"/>
                <a:sym typeface="Arial"/>
              </a:rPr>
              <a:t>hohe Abdeckung ( ~ 80 %)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</a:pPr>
            <a:r>
              <a:rPr b="0" i="0" lang="de-CH" sz="1800" u="none" cap="none" strike="noStrike">
                <a:latin typeface="Arial"/>
                <a:ea typeface="Arial"/>
                <a:cs typeface="Arial"/>
                <a:sym typeface="Arial"/>
              </a:rPr>
              <a:t>API -Calls werden gemockt 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</a:pPr>
            <a:r>
              <a:rPr b="0" i="0" lang="de-CH" sz="1800" u="none" cap="none" strike="noStrike">
                <a:latin typeface="Arial"/>
                <a:ea typeface="Arial"/>
                <a:cs typeface="Arial"/>
                <a:sym typeface="Arial"/>
              </a:rPr>
              <a:t> Fehlerbehandlung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</a:pPr>
            <a:r>
              <a:rPr b="0" i="0" lang="de-CH" sz="1800" u="none" cap="none" strike="noStrike">
                <a:latin typeface="Arial"/>
                <a:ea typeface="Arial"/>
                <a:cs typeface="Arial"/>
                <a:sym typeface="Arial"/>
              </a:rPr>
              <a:t>....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94960" y="3672000"/>
            <a:ext cx="2057040" cy="2076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4000" y="87120"/>
            <a:ext cx="6122160" cy="2936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/>
          <p:nvPr/>
        </p:nvSpPr>
        <p:spPr>
          <a:xfrm>
            <a:off x="489240" y="1118880"/>
            <a:ext cx="4618800" cy="46188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 txBox="1"/>
          <p:nvPr/>
        </p:nvSpPr>
        <p:spPr>
          <a:xfrm>
            <a:off x="1171080" y="1396800"/>
            <a:ext cx="3328560" cy="4063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de-CH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Test-Konzept</a:t>
            </a:r>
            <a:br>
              <a:rPr b="0" i="0" lang="de-CH" sz="1800" u="none" cap="none" strike="noStrike"/>
            </a:br>
            <a:r>
              <a:rPr b="1" i="0" lang="de-CH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de-CH" sz="36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de-CH" sz="3600" u="none" cap="none" strike="noStrike">
                <a:solidFill>
                  <a:srgbClr val="336633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r>
              <a:rPr b="1" i="0" lang="de-CH" sz="36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910080" y="4781160"/>
            <a:ext cx="545040" cy="54504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 txBox="1"/>
          <p:nvPr/>
        </p:nvSpPr>
        <p:spPr>
          <a:xfrm>
            <a:off x="5328000" y="3096000"/>
            <a:ext cx="6768000" cy="48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</a:pPr>
            <a:r>
              <a:rPr b="0" i="0" lang="de-CH" sz="1800" u="none" cap="none" strike="noStrike">
                <a:latin typeface="Arial"/>
                <a:ea typeface="Arial"/>
                <a:cs typeface="Arial"/>
                <a:sym typeface="Arial"/>
              </a:rPr>
              <a:t>Integrations-Tests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</a:pPr>
            <a:r>
              <a:rPr b="0" i="0" lang="de-CH" sz="1800" u="none" cap="none" strike="noStrike">
                <a:latin typeface="Arial"/>
                <a:ea typeface="Arial"/>
                <a:cs typeface="Arial"/>
                <a:sym typeface="Arial"/>
              </a:rPr>
              <a:t>hohe Abdeckung ( ~ 80 %)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</a:pPr>
            <a:r>
              <a:rPr b="0" i="0" lang="de-CH" sz="1800" u="none" cap="none" strike="noStrike">
                <a:latin typeface="Arial"/>
                <a:ea typeface="Arial"/>
                <a:cs typeface="Arial"/>
                <a:sym typeface="Arial"/>
              </a:rPr>
              <a:t>API – Calls „live“ 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</a:pPr>
            <a:r>
              <a:rPr b="0" i="0" lang="de-CH" sz="1800" u="none" cap="none" strike="noStrike">
                <a:latin typeface="Arial"/>
                <a:ea typeface="Arial"/>
                <a:cs typeface="Arial"/>
                <a:sym typeface="Arial"/>
              </a:rPr>
              <a:t> Fehlerbehandlung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</a:pPr>
            <a:r>
              <a:rPr b="0" i="0" lang="de-CH" sz="1800" u="none" cap="none" strike="noStrike">
                <a:latin typeface="Arial"/>
                <a:ea typeface="Arial"/>
                <a:cs typeface="Arial"/>
                <a:sym typeface="Arial"/>
              </a:rPr>
              <a:t>....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94960" y="3672000"/>
            <a:ext cx="2057040" cy="2076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4000" y="87120"/>
            <a:ext cx="6122160" cy="2936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/>
          <p:nvPr/>
        </p:nvSpPr>
        <p:spPr>
          <a:xfrm>
            <a:off x="489240" y="1118880"/>
            <a:ext cx="4618800" cy="46188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9"/>
          <p:cNvSpPr txBox="1"/>
          <p:nvPr/>
        </p:nvSpPr>
        <p:spPr>
          <a:xfrm>
            <a:off x="1171080" y="1396800"/>
            <a:ext cx="3328560" cy="4063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de-CH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Test-Konzept</a:t>
            </a:r>
            <a:br>
              <a:rPr b="0" i="0" lang="de-CH" sz="1800" u="none" cap="none" strike="noStrike"/>
            </a:br>
            <a:r>
              <a:rPr b="1" i="0" lang="de-CH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de-CH" sz="36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de-CH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Reporting</a:t>
            </a:r>
            <a:r>
              <a:rPr b="1" i="0" lang="de-CH" sz="36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910080" y="4781160"/>
            <a:ext cx="545040" cy="54504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9"/>
          <p:cNvSpPr txBox="1"/>
          <p:nvPr/>
        </p:nvSpPr>
        <p:spPr>
          <a:xfrm>
            <a:off x="5400000" y="576000"/>
            <a:ext cx="6768000" cy="48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de-CH" sz="3200" u="none" cap="none" strike="noStrike">
                <a:latin typeface="Arial"/>
                <a:ea typeface="Arial"/>
                <a:cs typeface="Arial"/>
                <a:sym typeface="Arial"/>
              </a:rPr>
              <a:t>für Entwickler 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de-CH" sz="2800" u="none" cap="none" strike="noStrike">
                <a:latin typeface="Arial"/>
                <a:ea typeface="Arial"/>
                <a:cs typeface="Arial"/>
                <a:sym typeface="Arial"/>
              </a:rPr>
              <a:t>In CI / CD – Pipeline headless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de-CH" sz="2800" u="none" cap="none" strike="noStrike">
                <a:latin typeface="Arial"/>
                <a:ea typeface="Arial"/>
                <a:cs typeface="Arial"/>
                <a:sym typeface="Arial"/>
              </a:rPr>
              <a:t>Lokal headed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de-CH" sz="2800" u="none" cap="none" strike="noStrike">
                <a:latin typeface="Arial"/>
                <a:ea typeface="Arial"/>
                <a:cs typeface="Arial"/>
                <a:sym typeface="Arial"/>
              </a:rPr>
              <a:t>Um Code-Abdeckung zu überprüfen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de-CH" sz="2800" u="none" cap="none" strike="noStrike">
                <a:latin typeface="Arial"/>
                <a:ea typeface="Arial"/>
                <a:cs typeface="Arial"/>
                <a:sym typeface="Arial"/>
              </a:rPr>
              <a:t>Fehler erkennen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de-CH" sz="3200" u="none" cap="none" strike="noStrike">
                <a:latin typeface="Arial"/>
                <a:ea typeface="Arial"/>
                <a:cs typeface="Arial"/>
                <a:sym typeface="Arial"/>
              </a:rPr>
              <a:t> Report für Product Owner = 	Anzahl Use Cases / User Stories abgedeckt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/>
          <p:nvPr/>
        </p:nvSpPr>
        <p:spPr>
          <a:xfrm>
            <a:off x="489240" y="1118880"/>
            <a:ext cx="4618800" cy="46188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0"/>
          <p:cNvSpPr txBox="1"/>
          <p:nvPr/>
        </p:nvSpPr>
        <p:spPr>
          <a:xfrm>
            <a:off x="1171080" y="1396800"/>
            <a:ext cx="3328560" cy="4063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de-CH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Test-Konzept</a:t>
            </a:r>
            <a:br>
              <a:rPr b="0" i="0" lang="de-CH" sz="1800" u="none" cap="none" strike="noStrike"/>
            </a:br>
            <a:r>
              <a:rPr b="1" i="0" lang="de-CH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de-CH" sz="36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de-CH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Static Testing</a:t>
            </a:r>
            <a:r>
              <a:rPr b="1" i="0" lang="de-CH" sz="36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910080" y="4781160"/>
            <a:ext cx="545040" cy="54504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0"/>
          <p:cNvSpPr txBox="1"/>
          <p:nvPr/>
        </p:nvSpPr>
        <p:spPr>
          <a:xfrm>
            <a:off x="5400000" y="576000"/>
            <a:ext cx="6768000" cy="48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de-CH" sz="3200" u="none" cap="none" strike="noStrike">
                <a:latin typeface="Arial"/>
                <a:ea typeface="Arial"/>
                <a:cs typeface="Arial"/>
                <a:sym typeface="Arial"/>
              </a:rPr>
              <a:t>für Entwickler 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de-CH" sz="2800" u="none" cap="none" strike="noStrike">
                <a:latin typeface="Arial"/>
                <a:ea typeface="Arial"/>
                <a:cs typeface="Arial"/>
                <a:sym typeface="Arial"/>
              </a:rPr>
              <a:t>Code Reviews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de-CH" sz="2800" u="none" cap="none" strike="noStrike">
                <a:latin typeface="Arial"/>
                <a:ea typeface="Arial"/>
                <a:cs typeface="Arial"/>
                <a:sym typeface="Arial"/>
              </a:rPr>
              <a:t>Clean Code mit Lint / TSLint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de-CH" sz="2800" u="none" cap="none" strike="noStrike">
                <a:latin typeface="Arial"/>
                <a:ea typeface="Arial"/>
                <a:cs typeface="Arial"/>
                <a:sym typeface="Arial"/>
              </a:rPr>
              <a:t>eventuell SonarQUBE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/>
          <p:nvPr/>
        </p:nvSpPr>
        <p:spPr>
          <a:xfrm>
            <a:off x="2880" y="0"/>
            <a:ext cx="12187800" cy="6856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1"/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1"/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1"/>
          <p:cNvSpPr/>
          <p:nvPr/>
        </p:nvSpPr>
        <p:spPr>
          <a:xfrm>
            <a:off x="2815920" y="149040"/>
            <a:ext cx="6559200" cy="655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1"/>
          <p:cNvSpPr txBox="1"/>
          <p:nvPr/>
        </p:nvSpPr>
        <p:spPr>
          <a:xfrm>
            <a:off x="3314880" y="1380600"/>
            <a:ext cx="5560920" cy="2512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de-CH" sz="6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Ausblick	</a:t>
            </a:r>
            <a:endParaRPr b="0" i="0" sz="6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1"/>
          <p:cNvSpPr txBox="1"/>
          <p:nvPr/>
        </p:nvSpPr>
        <p:spPr>
          <a:xfrm>
            <a:off x="3314880" y="4076640"/>
            <a:ext cx="5560920" cy="15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CH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Ich würde mich gerne in ihrer Unternehmung bewerben.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1"/>
          <p:cNvSpPr/>
          <p:nvPr/>
        </p:nvSpPr>
        <p:spPr>
          <a:xfrm rot="-9222600">
            <a:off x="2494440" y="3600"/>
            <a:ext cx="6815160" cy="6815520"/>
          </a:xfrm>
          <a:custGeom>
            <a:rect b="b" l="l" r="r" t="t"/>
            <a:pathLst>
              <a:path extrusionOk="0" h="9481" w="10771">
                <a:moveTo>
                  <a:pt x="10770" y="9480"/>
                </a:moveTo>
                <a:lnTo>
                  <a:pt x="10767" y="9242"/>
                </a:lnTo>
                <a:lnTo>
                  <a:pt x="10758" y="9004"/>
                </a:lnTo>
                <a:lnTo>
                  <a:pt x="10744" y="8766"/>
                </a:lnTo>
                <a:lnTo>
                  <a:pt x="10723" y="8529"/>
                </a:lnTo>
                <a:lnTo>
                  <a:pt x="10696" y="8293"/>
                </a:lnTo>
                <a:lnTo>
                  <a:pt x="10663" y="8057"/>
                </a:lnTo>
                <a:lnTo>
                  <a:pt x="10625" y="7822"/>
                </a:lnTo>
                <a:lnTo>
                  <a:pt x="10582" y="7588"/>
                </a:lnTo>
                <a:lnTo>
                  <a:pt x="10530" y="7354"/>
                </a:lnTo>
                <a:lnTo>
                  <a:pt x="10475" y="7123"/>
                </a:lnTo>
                <a:lnTo>
                  <a:pt x="10413" y="6894"/>
                </a:lnTo>
                <a:lnTo>
                  <a:pt x="10346" y="6665"/>
                </a:lnTo>
                <a:lnTo>
                  <a:pt x="10272" y="6438"/>
                </a:lnTo>
                <a:lnTo>
                  <a:pt x="10193" y="6214"/>
                </a:lnTo>
                <a:lnTo>
                  <a:pt x="10108" y="5992"/>
                </a:lnTo>
                <a:lnTo>
                  <a:pt x="10019" y="5771"/>
                </a:lnTo>
                <a:lnTo>
                  <a:pt x="9923" y="5552"/>
                </a:lnTo>
                <a:lnTo>
                  <a:pt x="9822" y="5337"/>
                </a:lnTo>
                <a:lnTo>
                  <a:pt x="9715" y="5124"/>
                </a:lnTo>
                <a:lnTo>
                  <a:pt x="9604" y="4914"/>
                </a:lnTo>
                <a:lnTo>
                  <a:pt x="9486" y="4707"/>
                </a:lnTo>
                <a:lnTo>
                  <a:pt x="9364" y="4502"/>
                </a:lnTo>
                <a:lnTo>
                  <a:pt x="9236" y="4301"/>
                </a:lnTo>
                <a:lnTo>
                  <a:pt x="9105" y="4104"/>
                </a:lnTo>
                <a:lnTo>
                  <a:pt x="8967" y="3909"/>
                </a:lnTo>
                <a:lnTo>
                  <a:pt x="8826" y="3718"/>
                </a:lnTo>
                <a:lnTo>
                  <a:pt x="8678" y="3531"/>
                </a:lnTo>
                <a:lnTo>
                  <a:pt x="8526" y="3348"/>
                </a:lnTo>
                <a:lnTo>
                  <a:pt x="8370" y="3167"/>
                </a:lnTo>
                <a:lnTo>
                  <a:pt x="8210" y="2992"/>
                </a:lnTo>
                <a:lnTo>
                  <a:pt x="8045" y="2820"/>
                </a:lnTo>
                <a:lnTo>
                  <a:pt x="7875" y="2653"/>
                </a:lnTo>
                <a:lnTo>
                  <a:pt x="7702" y="2489"/>
                </a:lnTo>
                <a:lnTo>
                  <a:pt x="7524" y="2330"/>
                </a:lnTo>
                <a:lnTo>
                  <a:pt x="7343" y="2177"/>
                </a:lnTo>
                <a:lnTo>
                  <a:pt x="7157" y="2026"/>
                </a:lnTo>
                <a:lnTo>
                  <a:pt x="6970" y="1882"/>
                </a:lnTo>
                <a:lnTo>
                  <a:pt x="6777" y="1742"/>
                </a:lnTo>
                <a:lnTo>
                  <a:pt x="6581" y="1607"/>
                </a:lnTo>
                <a:lnTo>
                  <a:pt x="6381" y="1477"/>
                </a:lnTo>
                <a:lnTo>
                  <a:pt x="6179" y="1351"/>
                </a:lnTo>
                <a:lnTo>
                  <a:pt x="5973" y="1232"/>
                </a:lnTo>
                <a:lnTo>
                  <a:pt x="5764" y="1116"/>
                </a:lnTo>
                <a:lnTo>
                  <a:pt x="5553" y="1007"/>
                </a:lnTo>
                <a:lnTo>
                  <a:pt x="5339" y="903"/>
                </a:lnTo>
                <a:lnTo>
                  <a:pt x="5122" y="804"/>
                </a:lnTo>
                <a:lnTo>
                  <a:pt x="4903" y="710"/>
                </a:lnTo>
                <a:lnTo>
                  <a:pt x="4683" y="623"/>
                </a:lnTo>
                <a:lnTo>
                  <a:pt x="4458" y="540"/>
                </a:lnTo>
                <a:lnTo>
                  <a:pt x="4233" y="464"/>
                </a:lnTo>
                <a:lnTo>
                  <a:pt x="4006" y="393"/>
                </a:lnTo>
                <a:lnTo>
                  <a:pt x="3777" y="329"/>
                </a:lnTo>
                <a:lnTo>
                  <a:pt x="3545" y="268"/>
                </a:lnTo>
                <a:lnTo>
                  <a:pt x="3314" y="215"/>
                </a:lnTo>
                <a:lnTo>
                  <a:pt x="3081" y="168"/>
                </a:lnTo>
                <a:lnTo>
                  <a:pt x="2846" y="125"/>
                </a:lnTo>
                <a:lnTo>
                  <a:pt x="2611" y="91"/>
                </a:lnTo>
                <a:lnTo>
                  <a:pt x="2375" y="60"/>
                </a:lnTo>
                <a:lnTo>
                  <a:pt x="2138" y="37"/>
                </a:lnTo>
                <a:lnTo>
                  <a:pt x="1900" y="18"/>
                </a:lnTo>
                <a:lnTo>
                  <a:pt x="1662" y="6"/>
                </a:lnTo>
                <a:lnTo>
                  <a:pt x="1424" y="0"/>
                </a:lnTo>
                <a:lnTo>
                  <a:pt x="1187" y="0"/>
                </a:lnTo>
                <a:lnTo>
                  <a:pt x="949" y="6"/>
                </a:lnTo>
                <a:lnTo>
                  <a:pt x="711" y="18"/>
                </a:lnTo>
                <a:lnTo>
                  <a:pt x="473" y="36"/>
                </a:lnTo>
                <a:lnTo>
                  <a:pt x="236" y="59"/>
                </a:lnTo>
                <a:lnTo>
                  <a:pt x="0" y="89"/>
                </a:lnTo>
                <a:lnTo>
                  <a:pt x="1303" y="9465"/>
                </a:lnTo>
                <a:lnTo>
                  <a:pt x="10770" y="9480"/>
                </a:lnTo>
                <a:moveTo>
                  <a:pt x="10770" y="9480"/>
                </a:moveTo>
                <a:lnTo>
                  <a:pt x="10767" y="9242"/>
                </a:lnTo>
                <a:lnTo>
                  <a:pt x="10758" y="9004"/>
                </a:lnTo>
                <a:lnTo>
                  <a:pt x="10744" y="8766"/>
                </a:lnTo>
                <a:lnTo>
                  <a:pt x="10723" y="8529"/>
                </a:lnTo>
                <a:lnTo>
                  <a:pt x="10696" y="8293"/>
                </a:lnTo>
                <a:lnTo>
                  <a:pt x="10663" y="8057"/>
                </a:lnTo>
                <a:lnTo>
                  <a:pt x="10625" y="7822"/>
                </a:lnTo>
                <a:lnTo>
                  <a:pt x="10582" y="7588"/>
                </a:lnTo>
                <a:lnTo>
                  <a:pt x="10530" y="7354"/>
                </a:lnTo>
                <a:lnTo>
                  <a:pt x="10475" y="7123"/>
                </a:lnTo>
                <a:lnTo>
                  <a:pt x="10413" y="6894"/>
                </a:lnTo>
                <a:lnTo>
                  <a:pt x="10346" y="6665"/>
                </a:lnTo>
                <a:lnTo>
                  <a:pt x="10272" y="6438"/>
                </a:lnTo>
                <a:lnTo>
                  <a:pt x="10193" y="6214"/>
                </a:lnTo>
                <a:lnTo>
                  <a:pt x="10108" y="5992"/>
                </a:lnTo>
                <a:lnTo>
                  <a:pt x="10019" y="5771"/>
                </a:lnTo>
                <a:lnTo>
                  <a:pt x="9923" y="5552"/>
                </a:lnTo>
                <a:lnTo>
                  <a:pt x="9822" y="5337"/>
                </a:lnTo>
                <a:lnTo>
                  <a:pt x="9715" y="5124"/>
                </a:lnTo>
                <a:lnTo>
                  <a:pt x="9604" y="4914"/>
                </a:lnTo>
                <a:lnTo>
                  <a:pt x="9486" y="4707"/>
                </a:lnTo>
                <a:lnTo>
                  <a:pt x="9364" y="4502"/>
                </a:lnTo>
                <a:lnTo>
                  <a:pt x="9236" y="4301"/>
                </a:lnTo>
                <a:lnTo>
                  <a:pt x="9105" y="4104"/>
                </a:lnTo>
                <a:lnTo>
                  <a:pt x="8967" y="3909"/>
                </a:lnTo>
                <a:lnTo>
                  <a:pt x="8826" y="3718"/>
                </a:lnTo>
                <a:lnTo>
                  <a:pt x="8678" y="3531"/>
                </a:lnTo>
                <a:lnTo>
                  <a:pt x="8526" y="3348"/>
                </a:lnTo>
                <a:lnTo>
                  <a:pt x="8370" y="3167"/>
                </a:lnTo>
                <a:lnTo>
                  <a:pt x="8210" y="2992"/>
                </a:lnTo>
                <a:lnTo>
                  <a:pt x="8045" y="2820"/>
                </a:lnTo>
                <a:lnTo>
                  <a:pt x="7875" y="2653"/>
                </a:lnTo>
                <a:lnTo>
                  <a:pt x="7702" y="2489"/>
                </a:lnTo>
                <a:lnTo>
                  <a:pt x="7524" y="2330"/>
                </a:lnTo>
                <a:lnTo>
                  <a:pt x="7343" y="2177"/>
                </a:lnTo>
                <a:lnTo>
                  <a:pt x="7157" y="2026"/>
                </a:lnTo>
                <a:lnTo>
                  <a:pt x="6970" y="1882"/>
                </a:lnTo>
                <a:lnTo>
                  <a:pt x="6777" y="1742"/>
                </a:lnTo>
                <a:lnTo>
                  <a:pt x="6581" y="1607"/>
                </a:lnTo>
                <a:lnTo>
                  <a:pt x="6381" y="1477"/>
                </a:lnTo>
                <a:lnTo>
                  <a:pt x="6179" y="1351"/>
                </a:lnTo>
                <a:lnTo>
                  <a:pt x="5973" y="1232"/>
                </a:lnTo>
                <a:lnTo>
                  <a:pt x="5764" y="1116"/>
                </a:lnTo>
                <a:lnTo>
                  <a:pt x="5553" y="1007"/>
                </a:lnTo>
                <a:lnTo>
                  <a:pt x="5339" y="903"/>
                </a:lnTo>
                <a:lnTo>
                  <a:pt x="5122" y="804"/>
                </a:lnTo>
                <a:lnTo>
                  <a:pt x="4903" y="710"/>
                </a:lnTo>
                <a:lnTo>
                  <a:pt x="4683" y="623"/>
                </a:lnTo>
                <a:lnTo>
                  <a:pt x="4458" y="540"/>
                </a:lnTo>
                <a:lnTo>
                  <a:pt x="4233" y="464"/>
                </a:lnTo>
                <a:lnTo>
                  <a:pt x="4006" y="393"/>
                </a:lnTo>
                <a:lnTo>
                  <a:pt x="3777" y="329"/>
                </a:lnTo>
                <a:lnTo>
                  <a:pt x="3545" y="268"/>
                </a:lnTo>
                <a:lnTo>
                  <a:pt x="3314" y="215"/>
                </a:lnTo>
                <a:lnTo>
                  <a:pt x="3081" y="168"/>
                </a:lnTo>
                <a:lnTo>
                  <a:pt x="2846" y="125"/>
                </a:lnTo>
                <a:lnTo>
                  <a:pt x="2611" y="91"/>
                </a:lnTo>
                <a:lnTo>
                  <a:pt x="2375" y="60"/>
                </a:lnTo>
                <a:lnTo>
                  <a:pt x="2138" y="37"/>
                </a:lnTo>
                <a:lnTo>
                  <a:pt x="1900" y="18"/>
                </a:lnTo>
                <a:lnTo>
                  <a:pt x="1662" y="6"/>
                </a:lnTo>
                <a:lnTo>
                  <a:pt x="1424" y="0"/>
                </a:lnTo>
                <a:lnTo>
                  <a:pt x="1187" y="0"/>
                </a:lnTo>
                <a:lnTo>
                  <a:pt x="949" y="6"/>
                </a:lnTo>
                <a:lnTo>
                  <a:pt x="711" y="18"/>
                </a:lnTo>
                <a:lnTo>
                  <a:pt x="473" y="36"/>
                </a:lnTo>
                <a:lnTo>
                  <a:pt x="236" y="59"/>
                </a:lnTo>
                <a:lnTo>
                  <a:pt x="0" y="89"/>
                </a:lnTo>
              </a:path>
            </a:pathLst>
          </a:custGeom>
          <a:noFill/>
          <a:ln cap="rnd" cmpd="sng" w="127075">
            <a:solidFill>
              <a:srgbClr val="FFC000"/>
            </a:solidFill>
            <a:prstDash val="dashDot"/>
            <a:miter lim="8000"/>
            <a:headEnd len="sm" w="sm" type="none"/>
            <a:tailEnd len="sm" w="sm" type="none"/>
          </a:ln>
        </p:spPr>
      </p:sp>
      <p:sp>
        <p:nvSpPr>
          <p:cNvPr id="148" name="Google Shape;148;p21"/>
          <p:cNvSpPr/>
          <p:nvPr/>
        </p:nvSpPr>
        <p:spPr>
          <a:xfrm>
            <a:off x="8201160" y="5311080"/>
            <a:ext cx="704880" cy="68580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