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0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07000" y="812520"/>
            <a:ext cx="5345280" cy="40089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 txBox="1"/>
          <p:nvPr>
            <p:ph idx="3"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" name="Google Shape;6;n"/>
          <p:cNvSpPr txBox="1"/>
          <p:nvPr>
            <p:ph idx="10"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7" name="Google Shape;67;p2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CH" sz="2000"/>
              <a:t>Test-Pyramide von Mike Cohn</a:t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2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8" name="Google Shape;78;p3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de-CH" sz="2000">
                <a:solidFill>
                  <a:schemeClr val="dk1"/>
                </a:solidFill>
              </a:rPr>
              <a:t>Test-Pyramide von Mike Cohn</a:t>
            </a:r>
            <a:endParaRPr sz="2000">
              <a:solidFill>
                <a:schemeClr val="dk1"/>
              </a:solidFill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79" name="Google Shape;79;p3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9" name="Google Shape;89;p4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de-CH" sz="2000">
                <a:solidFill>
                  <a:schemeClr val="dk1"/>
                </a:solidFill>
              </a:rPr>
              <a:t>Test-Pyramide von Mike Cohn</a:t>
            </a:r>
            <a:endParaRPr sz="2000">
              <a:solidFill>
                <a:schemeClr val="dk1"/>
              </a:solidFill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90" name="Google Shape;90;p4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0" name="Google Shape;100;p5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de-CH" sz="2000">
                <a:solidFill>
                  <a:schemeClr val="dk1"/>
                </a:solidFill>
              </a:rPr>
              <a:t>Test-Pyramide von Mike Cohn</a:t>
            </a:r>
            <a:endParaRPr sz="2000">
              <a:solidFill>
                <a:schemeClr val="dk1"/>
              </a:solidFill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101" name="Google Shape;101;p5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de-CH" sz="2000">
                <a:solidFill>
                  <a:schemeClr val="dk1"/>
                </a:solidFill>
              </a:rPr>
              <a:t>Test-Pyramide von Mike Cohn</a:t>
            </a:r>
            <a:endParaRPr sz="2000">
              <a:solidFill>
                <a:schemeClr val="dk1"/>
              </a:solidFill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112" name="Google Shape;112;p6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7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p7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de-CH" sz="2000">
                <a:solidFill>
                  <a:schemeClr val="dk1"/>
                </a:solidFill>
              </a:rPr>
              <a:t>Test-Pyramide von Mike Cohn</a:t>
            </a:r>
            <a:endParaRPr sz="2000">
              <a:solidFill>
                <a:schemeClr val="dk1"/>
              </a:solidFill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121" name="Google Shape;121;p7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838080" y="1825560"/>
            <a:ext cx="513108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6226200" y="1825560"/>
            <a:ext cx="513108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idx="1" type="subTitle"/>
          </p:nvPr>
        </p:nvSpPr>
        <p:spPr>
          <a:xfrm>
            <a:off x="838080" y="365040"/>
            <a:ext cx="10514520" cy="6140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8"/>
          <p:cNvSpPr txBox="1"/>
          <p:nvPr>
            <p:ph idx="2" type="body"/>
          </p:nvPr>
        </p:nvSpPr>
        <p:spPr>
          <a:xfrm>
            <a:off x="6226200" y="1825560"/>
            <a:ext cx="513108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8"/>
          <p:cNvSpPr txBox="1"/>
          <p:nvPr>
            <p:ph idx="3" type="body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9"/>
          <p:cNvSpPr txBox="1"/>
          <p:nvPr>
            <p:ph idx="1" type="body"/>
          </p:nvPr>
        </p:nvSpPr>
        <p:spPr>
          <a:xfrm>
            <a:off x="838080" y="1825560"/>
            <a:ext cx="513108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3" type="body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0"/>
          <p:cNvSpPr txBox="1"/>
          <p:nvPr>
            <p:ph idx="3" type="body"/>
          </p:nvPr>
        </p:nvSpPr>
        <p:spPr>
          <a:xfrm>
            <a:off x="838080" y="4098240"/>
            <a:ext cx="1051452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1" type="body"/>
          </p:nvPr>
        </p:nvSpPr>
        <p:spPr>
          <a:xfrm>
            <a:off x="838080" y="1825560"/>
            <a:ext cx="1051452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1"/>
          <p:cNvSpPr txBox="1"/>
          <p:nvPr>
            <p:ph idx="2" type="body"/>
          </p:nvPr>
        </p:nvSpPr>
        <p:spPr>
          <a:xfrm>
            <a:off x="838080" y="4098240"/>
            <a:ext cx="1051452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2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2"/>
          <p:cNvSpPr txBox="1"/>
          <p:nvPr>
            <p:ph idx="3" type="body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4" type="body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3"/>
          <p:cNvSpPr txBox="1"/>
          <p:nvPr>
            <p:ph idx="1" type="body"/>
          </p:nvPr>
        </p:nvSpPr>
        <p:spPr>
          <a:xfrm>
            <a:off x="838080" y="182556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3"/>
          <p:cNvSpPr txBox="1"/>
          <p:nvPr>
            <p:ph idx="2" type="body"/>
          </p:nvPr>
        </p:nvSpPr>
        <p:spPr>
          <a:xfrm>
            <a:off x="4393080" y="182556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3"/>
          <p:cNvSpPr txBox="1"/>
          <p:nvPr>
            <p:ph idx="3" type="body"/>
          </p:nvPr>
        </p:nvSpPr>
        <p:spPr>
          <a:xfrm>
            <a:off x="7948440" y="182556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3"/>
          <p:cNvSpPr txBox="1"/>
          <p:nvPr>
            <p:ph idx="4" type="body"/>
          </p:nvPr>
        </p:nvSpPr>
        <p:spPr>
          <a:xfrm>
            <a:off x="838080" y="409824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3"/>
          <p:cNvSpPr txBox="1"/>
          <p:nvPr>
            <p:ph idx="5" type="body"/>
          </p:nvPr>
        </p:nvSpPr>
        <p:spPr>
          <a:xfrm>
            <a:off x="4393080" y="409824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3"/>
          <p:cNvSpPr txBox="1"/>
          <p:nvPr>
            <p:ph idx="6" type="body"/>
          </p:nvPr>
        </p:nvSpPr>
        <p:spPr>
          <a:xfrm>
            <a:off x="7948440" y="409824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/>
          <p:nvPr/>
        </p:nvSpPr>
        <p:spPr>
          <a:xfrm>
            <a:off x="63360" y="6642000"/>
            <a:ext cx="1487880" cy="152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de-CH" sz="1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Confidential- Oracle Internal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1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" name="Google Shape;12;p1"/>
          <p:cNvSpPr txBox="1"/>
          <p:nvPr>
            <p:ph idx="1"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" name="Google Shape;13;p1"/>
          <p:cNvSpPr txBox="1"/>
          <p:nvPr>
            <p:ph idx="10" type="dt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4" name="Google Shape;14;p1"/>
          <p:cNvSpPr txBox="1"/>
          <p:nvPr>
            <p:ph idx="11" type="ftr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" name="Google Shape;15;p1"/>
          <p:cNvSpPr txBox="1"/>
          <p:nvPr>
            <p:ph idx="12" type="sldNum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CH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0" y="6602760"/>
            <a:ext cx="1614960" cy="21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4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FFCC00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4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4"/>
          <p:cNvSpPr txBox="1"/>
          <p:nvPr/>
        </p:nvSpPr>
        <p:spPr>
          <a:xfrm>
            <a:off x="5040000" y="1584000"/>
            <a:ext cx="6768000" cy="58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240" lvl="0" marL="2286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Char char="•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e2e-Tests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keine vollständige Abdeckung ( &lt; 80 %)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Prüfen ob Navigation funktioniert 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kritische Funktionen (</a:t>
            </a:r>
            <a:r>
              <a:rPr b="0" i="0" lang="de-CH" sz="2800" u="none" cap="none" strike="noStrike">
                <a:solidFill>
                  <a:srgbClr val="800000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) testen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Content – Typen modular (fpui-widget)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Relevante Auflösungen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1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Mobile 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1" marL="4572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Tablet 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1" marL="4572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Notebook 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1" marL="4572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PC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" name="Google Shape;7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0000" y="720000"/>
            <a:ext cx="3363120" cy="1642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66960" y="83880"/>
            <a:ext cx="2057040" cy="2076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5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0066FF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5"/>
          <p:cNvSpPr txBox="1"/>
          <p:nvPr/>
        </p:nvSpPr>
        <p:spPr>
          <a:xfrm>
            <a:off x="5040000" y="1584000"/>
            <a:ext cx="67680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240" lvl="0" marL="2286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Char char="•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Unit-Tests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hohe Abdeckung ( ~ 80 %)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API -Calls werden gemockt 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1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Fehlerbehandlung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Content – Typen modular (fpui-widget) als DOM -Modell (Jest) 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5" name="Google Shape;8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0000" y="720000"/>
            <a:ext cx="3363120" cy="1642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66960" y="83880"/>
            <a:ext cx="2057040" cy="2076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6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5256000" y="3528000"/>
            <a:ext cx="67680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Unit-Tests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hohe Abdeckung ( ~ 80 %)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API -Calls werden gemockt 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Noto Sans Symbols"/>
              <a:buChar char="−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 Fehlerbehandlung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....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94960" y="3672000"/>
            <a:ext cx="2057040" cy="2076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44000" y="87120"/>
            <a:ext cx="6122160" cy="2936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7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7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336633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7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7"/>
          <p:cNvSpPr txBox="1"/>
          <p:nvPr/>
        </p:nvSpPr>
        <p:spPr>
          <a:xfrm>
            <a:off x="5328000" y="3096000"/>
            <a:ext cx="67680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Integrations-Tests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hohe Abdeckung ( ~ 80 %)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API – Calls „live“ 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Noto Sans Symbols"/>
              <a:buChar char="−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 Fehlerbehandlung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....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7" name="Google Shape;10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94960" y="3672000"/>
            <a:ext cx="2057040" cy="2076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44000" y="87120"/>
            <a:ext cx="6122160" cy="2936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8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Reporting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8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/>
          <p:cNvSpPr txBox="1"/>
          <p:nvPr/>
        </p:nvSpPr>
        <p:spPr>
          <a:xfrm>
            <a:off x="5400000" y="576000"/>
            <a:ext cx="67680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i="0" lang="de-CH" sz="3200" u="none" cap="none" strike="noStrike">
                <a:latin typeface="Arial"/>
                <a:ea typeface="Arial"/>
                <a:cs typeface="Arial"/>
                <a:sym typeface="Arial"/>
              </a:rPr>
              <a:t>für Entwickler </a:t>
            </a:r>
            <a:endParaRPr b="0" i="0" sz="32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In CI / CD – Pipeline headless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Lokal headed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Um Code-Abdeckung zu überprüfen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Fehler erkennen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i="0" lang="de-CH" sz="3200" u="none" cap="none" strike="noStrike">
                <a:latin typeface="Arial"/>
                <a:ea typeface="Arial"/>
                <a:cs typeface="Arial"/>
                <a:sym typeface="Arial"/>
              </a:rPr>
              <a:t> Report für Product Owner = 	Anzahl Use Cases / User Stories abgedeckt</a:t>
            </a:r>
            <a:endParaRPr b="0" i="0" sz="32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9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Static Testing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9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9"/>
          <p:cNvSpPr txBox="1"/>
          <p:nvPr/>
        </p:nvSpPr>
        <p:spPr>
          <a:xfrm>
            <a:off x="5400000" y="576000"/>
            <a:ext cx="67680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i="0" lang="de-CH" sz="3200" u="none" cap="none" strike="noStrike">
                <a:latin typeface="Arial"/>
                <a:ea typeface="Arial"/>
                <a:cs typeface="Arial"/>
                <a:sym typeface="Arial"/>
              </a:rPr>
              <a:t>für Entwickler </a:t>
            </a:r>
            <a:endParaRPr b="0" i="0" sz="32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Code Reviews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Clean Code mit Lint / TSLint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eventuell SonarQUBE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