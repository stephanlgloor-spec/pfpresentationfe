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0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07000" y="812520"/>
            <a:ext cx="5345280" cy="400896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 txBox="1"/>
          <p:nvPr>
            <p:ph idx="3"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6" name="Google Shape;6;n"/>
          <p:cNvSpPr txBox="1"/>
          <p:nvPr>
            <p:ph idx="10"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400" u="none" cap="none" strike="noStrike"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4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7" name="Google Shape;67;p2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-CH" sz="2000"/>
              <a:t>Test-Pyramide von Mike Cohn</a:t>
            </a:r>
            <a:endParaRPr b="0" sz="2000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2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3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3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CH" sz="2000">
                <a:solidFill>
                  <a:schemeClr val="dk1"/>
                </a:solidFill>
              </a:rPr>
              <a:t>Test-Pyramide von Mike Cohn</a:t>
            </a:r>
            <a:endParaRPr sz="2000">
              <a:solidFill>
                <a:schemeClr val="dk1"/>
              </a:solidFill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79" name="Google Shape;79;p3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CH" sz="2000">
                <a:solidFill>
                  <a:schemeClr val="dk1"/>
                </a:solidFill>
              </a:rPr>
              <a:t>Test-Pyramide von Mike Cohn</a:t>
            </a:r>
            <a:endParaRPr sz="2000">
              <a:solidFill>
                <a:schemeClr val="dk1"/>
              </a:solidFill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90" name="Google Shape;90;p4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CH" sz="2000">
                <a:solidFill>
                  <a:schemeClr val="dk1"/>
                </a:solidFill>
              </a:rPr>
              <a:t>Test-Pyramide von Mike Cohn</a:t>
            </a:r>
            <a:endParaRPr sz="2000">
              <a:solidFill>
                <a:schemeClr val="dk1"/>
              </a:solidFill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01" name="Google Shape;101;p5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CH" sz="2000">
                <a:solidFill>
                  <a:schemeClr val="dk1"/>
                </a:solidFill>
              </a:rPr>
              <a:t>Test-Pyramide von Mike Cohn</a:t>
            </a:r>
            <a:endParaRPr sz="2000">
              <a:solidFill>
                <a:schemeClr val="dk1"/>
              </a:solidFill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12" name="Google Shape;112;p6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/>
          <p:nvPr>
            <p:ph idx="2" type="sldImg"/>
          </p:nvPr>
        </p:nvSpPr>
        <p:spPr>
          <a:xfrm>
            <a:off x="685800" y="1143000"/>
            <a:ext cx="5485320" cy="3085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0" name="Google Shape;120;p7:notes"/>
          <p:cNvSpPr txBox="1"/>
          <p:nvPr>
            <p:ph idx="1" type="body"/>
          </p:nvPr>
        </p:nvSpPr>
        <p:spPr>
          <a:xfrm>
            <a:off x="685800" y="4400640"/>
            <a:ext cx="5485320" cy="3599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2160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de-CH" sz="2000">
                <a:solidFill>
                  <a:schemeClr val="dk1"/>
                </a:solidFill>
              </a:rPr>
              <a:t>Test-Pyramide von Mike Cohn</a:t>
            </a:r>
            <a:endParaRPr sz="2000">
              <a:solidFill>
                <a:schemeClr val="dk1"/>
              </a:solidFill>
            </a:endParaRPr>
          </a:p>
          <a:p>
            <a:pPr indent="0" lvl="0" marL="2160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</p:txBody>
      </p:sp>
      <p:sp>
        <p:nvSpPr>
          <p:cNvPr id="121" name="Google Shape;121;p7:notes"/>
          <p:cNvSpPr txBox="1"/>
          <p:nvPr/>
        </p:nvSpPr>
        <p:spPr>
          <a:xfrm>
            <a:off x="3884760" y="8685360"/>
            <a:ext cx="2970720" cy="4575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de-CH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Slide" typ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" type="subTitle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" type="twoObj">
  <p:cSld name="TWO_OBJECT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entered Text" type="objOnly">
  <p:cSld name="OBJECT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 txBox="1"/>
          <p:nvPr>
            <p:ph idx="1" type="subTitle"/>
          </p:nvPr>
        </p:nvSpPr>
        <p:spPr>
          <a:xfrm>
            <a:off x="838080" y="365040"/>
            <a:ext cx="10514520" cy="6140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and Content" type="twoObjAndObj">
  <p:cSld name="TWO_OBJECTS_AND_OBJEC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8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8"/>
          <p:cNvSpPr txBox="1"/>
          <p:nvPr>
            <p:ph idx="2" type="body"/>
          </p:nvPr>
        </p:nvSpPr>
        <p:spPr>
          <a:xfrm>
            <a:off x="6226200" y="1825560"/>
            <a:ext cx="513108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8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Content and 2 Content" type="objAndTwoObj">
  <p:cSld name="OBJECT_AND_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9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9"/>
          <p:cNvSpPr txBox="1"/>
          <p:nvPr>
            <p:ph idx="1" type="body"/>
          </p:nvPr>
        </p:nvSpPr>
        <p:spPr>
          <a:xfrm>
            <a:off x="838080" y="1825560"/>
            <a:ext cx="513108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3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2 Content over Content" type="twoObjOverTx">
  <p:cSld name="TWO_OBJECTS_OVER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0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0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0"/>
          <p:cNvSpPr txBox="1"/>
          <p:nvPr>
            <p:ph idx="3" type="body"/>
          </p:nvPr>
        </p:nvSpPr>
        <p:spPr>
          <a:xfrm>
            <a:off x="838080" y="4098240"/>
            <a:ext cx="1051452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Content over Content" type="objOverTx">
  <p:cSld name="OBJECT_OVER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1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1"/>
          <p:cNvSpPr txBox="1"/>
          <p:nvPr>
            <p:ph idx="1" type="body"/>
          </p:nvPr>
        </p:nvSpPr>
        <p:spPr>
          <a:xfrm>
            <a:off x="838080" y="1825560"/>
            <a:ext cx="1051452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1"/>
          <p:cNvSpPr txBox="1"/>
          <p:nvPr>
            <p:ph idx="2" type="body"/>
          </p:nvPr>
        </p:nvSpPr>
        <p:spPr>
          <a:xfrm>
            <a:off x="838080" y="4098240"/>
            <a:ext cx="1051452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4 Content" type="fourObj">
  <p:cSld name="FOUR_OBJECTS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2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2"/>
          <p:cNvSpPr txBox="1"/>
          <p:nvPr>
            <p:ph idx="1" type="body"/>
          </p:nvPr>
        </p:nvSpPr>
        <p:spPr>
          <a:xfrm>
            <a:off x="83808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2"/>
          <p:cNvSpPr txBox="1"/>
          <p:nvPr>
            <p:ph idx="2" type="body"/>
          </p:nvPr>
        </p:nvSpPr>
        <p:spPr>
          <a:xfrm>
            <a:off x="6226200" y="182556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2"/>
          <p:cNvSpPr txBox="1"/>
          <p:nvPr>
            <p:ph idx="3" type="body"/>
          </p:nvPr>
        </p:nvSpPr>
        <p:spPr>
          <a:xfrm>
            <a:off x="83808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2"/>
          <p:cNvSpPr txBox="1"/>
          <p:nvPr>
            <p:ph idx="4" type="body"/>
          </p:nvPr>
        </p:nvSpPr>
        <p:spPr>
          <a:xfrm>
            <a:off x="6226200" y="4098240"/>
            <a:ext cx="513108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6 Content">
  <p:cSld name="Title, 6 Content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3"/>
          <p:cNvSpPr txBox="1"/>
          <p:nvPr>
            <p:ph idx="1" type="body"/>
          </p:nvPr>
        </p:nvSpPr>
        <p:spPr>
          <a:xfrm>
            <a:off x="838080" y="182556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3"/>
          <p:cNvSpPr txBox="1"/>
          <p:nvPr>
            <p:ph idx="2" type="body"/>
          </p:nvPr>
        </p:nvSpPr>
        <p:spPr>
          <a:xfrm>
            <a:off x="4393080" y="182556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3"/>
          <p:cNvSpPr txBox="1"/>
          <p:nvPr>
            <p:ph idx="3" type="body"/>
          </p:nvPr>
        </p:nvSpPr>
        <p:spPr>
          <a:xfrm>
            <a:off x="7948440" y="182556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4" type="body"/>
          </p:nvPr>
        </p:nvSpPr>
        <p:spPr>
          <a:xfrm>
            <a:off x="838080" y="409824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5" type="body"/>
          </p:nvPr>
        </p:nvSpPr>
        <p:spPr>
          <a:xfrm>
            <a:off x="4393080" y="409824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6" type="body"/>
          </p:nvPr>
        </p:nvSpPr>
        <p:spPr>
          <a:xfrm>
            <a:off x="7948440" y="4098240"/>
            <a:ext cx="3385440" cy="2075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/>
          <p:nvPr/>
        </p:nvSpPr>
        <p:spPr>
          <a:xfrm>
            <a:off x="63360" y="6642000"/>
            <a:ext cx="1487880" cy="152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de-CH" sz="1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Confidential- Oracle Internal</a:t>
            </a:r>
            <a:endParaRPr b="0" i="0" sz="10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1"/>
          <p:cNvSpPr txBox="1"/>
          <p:nvPr>
            <p:ph type="title"/>
          </p:nvPr>
        </p:nvSpPr>
        <p:spPr>
          <a:xfrm>
            <a:off x="838080" y="365040"/>
            <a:ext cx="10514520" cy="1324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2" name="Google Shape;12;p1"/>
          <p:cNvSpPr txBox="1"/>
          <p:nvPr>
            <p:ph idx="1" type="body"/>
          </p:nvPr>
        </p:nvSpPr>
        <p:spPr>
          <a:xfrm>
            <a:off x="838080" y="1825560"/>
            <a:ext cx="10514520" cy="435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3" name="Google Shape;13;p1"/>
          <p:cNvSpPr txBox="1"/>
          <p:nvPr>
            <p:ph idx="10" type="dt"/>
          </p:nvPr>
        </p:nvSpPr>
        <p:spPr>
          <a:xfrm>
            <a:off x="8380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4" name="Google Shape;14;p1"/>
          <p:cNvSpPr txBox="1"/>
          <p:nvPr>
            <p:ph idx="11" type="ftr"/>
          </p:nvPr>
        </p:nvSpPr>
        <p:spPr>
          <a:xfrm>
            <a:off x="4038480" y="6356520"/>
            <a:ext cx="41137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15" name="Google Shape;15;p1"/>
          <p:cNvSpPr txBox="1"/>
          <p:nvPr>
            <p:ph idx="12" type="sldNum"/>
          </p:nvPr>
        </p:nvSpPr>
        <p:spPr>
          <a:xfrm>
            <a:off x="8610480" y="6356520"/>
            <a:ext cx="2742120" cy="363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buNone/>
              <a:defRPr b="0" i="0" sz="1200" u="none" cap="none" strike="noStrike">
                <a:solidFill>
                  <a:srgbClr val="8B8B8B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CH"/>
              <a:t>‹#›</a:t>
            </a:fld>
            <a:endParaRPr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0" y="6602760"/>
            <a:ext cx="1614960" cy="21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CC00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14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4"/>
          <p:cNvSpPr txBox="1"/>
          <p:nvPr/>
        </p:nvSpPr>
        <p:spPr>
          <a:xfrm>
            <a:off x="5030375" y="1834150"/>
            <a:ext cx="6768000" cy="47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1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•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e2e-Tests</a:t>
            </a:r>
            <a:endParaRPr sz="2800"/>
          </a:p>
          <a:p>
            <a:pPr indent="-30861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○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keine vollständige Abdeckung ( &lt; 80 %)</a:t>
            </a:r>
            <a:endParaRPr sz="2800"/>
          </a:p>
          <a:p>
            <a:pPr indent="-30861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○"/>
            </a:pPr>
            <a:r>
              <a:rPr lang="de-CH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Navigation und Elemente (im  DOM) sprachunabhängig </a:t>
            </a:r>
            <a:r>
              <a:rPr lang="de-CH" sz="2800">
                <a:latin typeface="Calibri"/>
                <a:ea typeface="Calibri"/>
                <a:cs typeface="Calibri"/>
                <a:sym typeface="Calibri"/>
              </a:rPr>
              <a:t>testen 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0861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○"/>
            </a:pPr>
            <a:r>
              <a:rPr lang="de-CH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multi-language tested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0861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○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kritische Funktionen (</a:t>
            </a:r>
            <a:r>
              <a:rPr b="0" i="0" lang="de-CH" sz="2800" u="none" cap="none" strike="noStrike">
                <a:solidFill>
                  <a:srgbClr val="800000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) testen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-308610" lvl="1" marL="9144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○"/>
            </a:pPr>
            <a:r>
              <a:rPr lang="de-CH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Relevante Auflösungen</a:t>
            </a:r>
            <a:r>
              <a:rPr lang="de-CH" sz="2800">
                <a:solidFill>
                  <a:schemeClr val="dk1"/>
                </a:solidFill>
              </a:rPr>
              <a:t> </a:t>
            </a:r>
            <a:r>
              <a:rPr lang="de-CH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Mobile, Laptop</a:t>
            </a:r>
            <a:r>
              <a:rPr lang="de-CH" sz="2800">
                <a:solidFill>
                  <a:schemeClr val="dk1"/>
                </a:solidFill>
              </a:rPr>
              <a:t>…</a:t>
            </a:r>
            <a:endParaRPr sz="2800">
              <a:solidFill>
                <a:schemeClr val="dk1"/>
              </a:solidFill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– Typen modular (fpui-widget) als Page Object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4" name="Google Shape;74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720000"/>
            <a:ext cx="3363120" cy="1642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" name="Google Shape;7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6960" y="83880"/>
            <a:ext cx="2057040" cy="2076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5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0066FF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5"/>
          <p:cNvSpPr txBox="1"/>
          <p:nvPr/>
        </p:nvSpPr>
        <p:spPr>
          <a:xfrm>
            <a:off x="5040000" y="1584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24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Char char="•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Unit-Tests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hohe Abdeckung ( ~ 80 %)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API -Calls werden gemockt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1" marL="4572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Fehlerbehandlung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Noto Sans Symbols"/>
              <a:buChar char="●"/>
            </a:pPr>
            <a:r>
              <a:rPr b="0" i="0" lang="de-CH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Content – Typen modular (fpui-widget) als DOM -Modell (Jest) 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5" name="Google Shape;8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0000" y="720000"/>
            <a:ext cx="3363120" cy="1642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966960" y="83880"/>
            <a:ext cx="2057040" cy="20761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6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16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6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16"/>
          <p:cNvSpPr txBox="1"/>
          <p:nvPr/>
        </p:nvSpPr>
        <p:spPr>
          <a:xfrm>
            <a:off x="5256000" y="3528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Unit-Tests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hohe Abdeckung ( ~ 80 %)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API -Calls werden gemockt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 Fehlerbehandlung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....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6" name="Google Shape;9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4960" y="3672000"/>
            <a:ext cx="2057040" cy="2076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4000" y="87120"/>
            <a:ext cx="6122160" cy="293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7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7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336633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7"/>
          <p:cNvSpPr txBox="1"/>
          <p:nvPr/>
        </p:nvSpPr>
        <p:spPr>
          <a:xfrm>
            <a:off x="5328000" y="3096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Integrations-Tests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hohe Abdeckung ( ~ 80 %)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API – Calls „live“ 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Noto Sans Symbols"/>
              <a:buChar char="−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 Fehlerbehandlung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810"/>
              <a:buFont typeface="Noto Sans Symbols"/>
              <a:buChar char="●"/>
            </a:pPr>
            <a:r>
              <a:rPr b="0" i="0" lang="de-CH" sz="1800" u="none" cap="none" strike="noStrike">
                <a:latin typeface="Arial"/>
                <a:ea typeface="Arial"/>
                <a:cs typeface="Arial"/>
                <a:sym typeface="Arial"/>
              </a:rPr>
              <a:t>....</a:t>
            </a:r>
            <a:endParaRPr b="0" i="0" sz="1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7" name="Google Shape;10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894960" y="3672000"/>
            <a:ext cx="2057040" cy="207612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544000" y="87120"/>
            <a:ext cx="6122160" cy="2936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18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Reporting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18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18"/>
          <p:cNvSpPr txBox="1"/>
          <p:nvPr/>
        </p:nvSpPr>
        <p:spPr>
          <a:xfrm>
            <a:off x="5400000" y="576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de-CH" sz="3200" u="none" cap="none" strike="noStrike">
                <a:latin typeface="Arial"/>
                <a:ea typeface="Arial"/>
                <a:cs typeface="Arial"/>
                <a:sym typeface="Arial"/>
              </a:rPr>
              <a:t>für Entwickler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In CI / CD – Pipeline headless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Lokal headed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Um Code-Abdeckung zu überprüfen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Fehler erkennen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0" marL="432000" marR="0" rtl="0" algn="l">
              <a:spcBef>
                <a:spcPts val="1134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de-CH" sz="3200" u="none" cap="none" strike="noStrike">
                <a:latin typeface="Arial"/>
                <a:ea typeface="Arial"/>
                <a:cs typeface="Arial"/>
                <a:sym typeface="Arial"/>
              </a:rPr>
              <a:t> Report für Product Owner = 	Anzahl Use Cases / User Stories abgedeckt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9"/>
          <p:cNvSpPr/>
          <p:nvPr/>
        </p:nvSpPr>
        <p:spPr>
          <a:xfrm>
            <a:off x="489240" y="1118880"/>
            <a:ext cx="4618800" cy="4618800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9"/>
          <p:cNvSpPr txBox="1"/>
          <p:nvPr/>
        </p:nvSpPr>
        <p:spPr>
          <a:xfrm>
            <a:off x="1171080" y="1396800"/>
            <a:ext cx="3328560" cy="4063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Test-Konzept</a:t>
            </a:r>
            <a:br>
              <a:rPr b="0" i="0" lang="de-CH" sz="1800" u="none" cap="none" strike="noStrike"/>
            </a:b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b="1" i="0" lang="de-CH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Static Testing</a:t>
            </a:r>
            <a:r>
              <a:rPr b="1" i="0" lang="de-CH" sz="3600" u="none" cap="none" strike="noStrike">
                <a:solidFill>
                  <a:srgbClr val="808080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b="0" i="0" sz="3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19"/>
          <p:cNvSpPr/>
          <p:nvPr/>
        </p:nvSpPr>
        <p:spPr>
          <a:xfrm>
            <a:off x="910080" y="4781160"/>
            <a:ext cx="545040" cy="545040"/>
          </a:xfrm>
          <a:prstGeom prst="ellipse">
            <a:avLst/>
          </a:prstGeom>
          <a:solidFill>
            <a:srgbClr val="5B9B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9"/>
          <p:cNvSpPr txBox="1"/>
          <p:nvPr/>
        </p:nvSpPr>
        <p:spPr>
          <a:xfrm>
            <a:off x="5400000" y="576000"/>
            <a:ext cx="6768000" cy="4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24000" lvl="0" marL="43200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40"/>
              <a:buFont typeface="Noto Sans Symbols"/>
              <a:buChar char="●"/>
            </a:pPr>
            <a:r>
              <a:rPr b="0" i="0" lang="de-CH" sz="3200" u="none" cap="none" strike="noStrike">
                <a:latin typeface="Arial"/>
                <a:ea typeface="Arial"/>
                <a:cs typeface="Arial"/>
                <a:sym typeface="Arial"/>
              </a:rPr>
              <a:t>für Entwickler </a:t>
            </a:r>
            <a:endParaRPr b="0" i="0" sz="32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Code Reviews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Clean Code mit Lint / TSLint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  <a:p>
            <a:pPr indent="-324000" lvl="1" marL="864000" marR="0" rtl="0" algn="l">
              <a:spcBef>
                <a:spcPts val="1417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Noto Sans Symbols"/>
              <a:buChar char="−"/>
            </a:pPr>
            <a:r>
              <a:rPr b="0" i="0" lang="de-CH" sz="2800" u="none" cap="none" strike="noStrike">
                <a:latin typeface="Arial"/>
                <a:ea typeface="Arial"/>
                <a:cs typeface="Arial"/>
                <a:sym typeface="Arial"/>
              </a:rPr>
              <a:t>eventuell SonarQUBE</a:t>
            </a:r>
            <a:endParaRPr b="0" i="0" sz="28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