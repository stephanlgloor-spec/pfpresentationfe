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0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07000" y="812520"/>
            <a:ext cx="5345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2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5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6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7:notes"/>
          <p:cNvSpPr txBox="1"/>
          <p:nvPr/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de-CH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" type="subTitle"/>
          </p:nvPr>
        </p:nvSpPr>
        <p:spPr>
          <a:xfrm>
            <a:off x="838080" y="365040"/>
            <a:ext cx="10514520" cy="6140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2" type="body"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" type="body"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3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3" type="body"/>
          </p:nvPr>
        </p:nvSpPr>
        <p:spPr>
          <a:xfrm>
            <a:off x="838080" y="409824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838080" y="182556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1"/>
          <p:cNvSpPr txBox="1"/>
          <p:nvPr>
            <p:ph idx="2" type="body"/>
          </p:nvPr>
        </p:nvSpPr>
        <p:spPr>
          <a:xfrm>
            <a:off x="838080" y="4098240"/>
            <a:ext cx="1051452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2" type="body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2"/>
          <p:cNvSpPr txBox="1"/>
          <p:nvPr>
            <p:ph idx="3" type="body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4" type="body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" type="body"/>
          </p:nvPr>
        </p:nvSpPr>
        <p:spPr>
          <a:xfrm>
            <a:off x="83808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2" type="body"/>
          </p:nvPr>
        </p:nvSpPr>
        <p:spPr>
          <a:xfrm>
            <a:off x="439308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3"/>
          <p:cNvSpPr txBox="1"/>
          <p:nvPr>
            <p:ph idx="3" type="body"/>
          </p:nvPr>
        </p:nvSpPr>
        <p:spPr>
          <a:xfrm>
            <a:off x="7948440" y="182556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4" type="body"/>
          </p:nvPr>
        </p:nvSpPr>
        <p:spPr>
          <a:xfrm>
            <a:off x="83808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5" type="body"/>
          </p:nvPr>
        </p:nvSpPr>
        <p:spPr>
          <a:xfrm>
            <a:off x="439308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3"/>
          <p:cNvSpPr txBox="1"/>
          <p:nvPr>
            <p:ph idx="6" type="body"/>
          </p:nvPr>
        </p:nvSpPr>
        <p:spPr>
          <a:xfrm>
            <a:off x="7948440" y="4098240"/>
            <a:ext cx="3385440" cy="2075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63360" y="6642000"/>
            <a:ext cx="1487880" cy="152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de-CH" sz="1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Confidential- Oracle Internal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 txBox="1"/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1"/>
          <p:cNvSpPr txBox="1"/>
          <p:nvPr>
            <p:ph idx="10" type="dt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" name="Google Shape;14;p1"/>
          <p:cNvSpPr txBox="1"/>
          <p:nvPr>
            <p:ph idx="11" type="ftr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" name="Google Shape;15;p1"/>
          <p:cNvSpPr txBox="1"/>
          <p:nvPr>
            <p:ph idx="12" type="sldNum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CH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0" y="6602760"/>
            <a:ext cx="1614960" cy="21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CC00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4"/>
          <p:cNvSpPr txBox="1"/>
          <p:nvPr/>
        </p:nvSpPr>
        <p:spPr>
          <a:xfrm>
            <a:off x="5040000" y="1584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24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•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e2e-Tests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keine vollständige Abdeckung ( &lt; 80 %)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Prüfen ob Navigation funktioniert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kritische Funktionen (</a:t>
            </a:r>
            <a:r>
              <a:rPr b="0" i="0" lang="de-CH" sz="2800" u="none" cap="none" strike="noStrike">
                <a:solidFill>
                  <a:srgbClr val="800000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) testen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– Typen modular (fpui-widget)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Relevante Auflösungen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Mobile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Tablet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Notebook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PC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000" y="720000"/>
            <a:ext cx="3363120" cy="1642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6960" y="83880"/>
            <a:ext cx="2057040" cy="207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0066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 txBox="1"/>
          <p:nvPr/>
        </p:nvSpPr>
        <p:spPr>
          <a:xfrm>
            <a:off x="5040000" y="1584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240" lvl="0" marL="228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Char char="•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Unit-Tests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hohe Abdeckung ( ~ 80 %)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API -Calls werden gemockt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1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Fehlerbehandlung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Noto Sans Symbols"/>
              <a:buChar char="●"/>
            </a:pPr>
            <a:r>
              <a:rPr b="0" i="0" lang="de-CH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– Typen modular (fpui-widget) als DOM -Modell (Jest) 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000" y="720000"/>
            <a:ext cx="3363120" cy="1642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66960" y="83880"/>
            <a:ext cx="2057040" cy="20761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5256000" y="3528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Unit-Tests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hohe Abdeckung ( ~ 80 %)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API -Calls werden gemockt 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Noto Sans Symbols"/>
              <a:buChar char="−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 Fehlerbehandlung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....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4960" y="3672000"/>
            <a:ext cx="2057040" cy="2076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4000" y="87120"/>
            <a:ext cx="6122160" cy="293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336633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7"/>
          <p:cNvSpPr txBox="1"/>
          <p:nvPr/>
        </p:nvSpPr>
        <p:spPr>
          <a:xfrm>
            <a:off x="5328000" y="309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Integrations-Tests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hohe Abdeckung ( ~ 80 %)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API – Calls „live“ 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Noto Sans Symbols"/>
              <a:buChar char="−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 Fehlerbehandlung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810"/>
              <a:buFont typeface="Noto Sans Symbols"/>
              <a:buChar char="●"/>
            </a:pPr>
            <a:r>
              <a:rPr b="0" i="0" lang="de-CH" sz="1800" u="none" cap="none" strike="noStrike">
                <a:latin typeface="Arial"/>
                <a:ea typeface="Arial"/>
                <a:cs typeface="Arial"/>
                <a:sym typeface="Arial"/>
              </a:rPr>
              <a:t>....</a:t>
            </a:r>
            <a:endParaRPr b="0" i="0" sz="1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4960" y="3672000"/>
            <a:ext cx="2057040" cy="2076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4000" y="87120"/>
            <a:ext cx="6122160" cy="293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/>
        </p:nvSpPr>
        <p:spPr>
          <a:xfrm>
            <a:off x="5400000" y="57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für Entwickler 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In CI / CD – Pipeline headless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Lokal headed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Um Code-Abdeckung zu überprüfen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Fehler erkennen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 Report für Product Owner = 	Anzahl Use Cases / User Stories abgedeckt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/>
          <p:nvPr/>
        </p:nvSpPr>
        <p:spPr>
          <a:xfrm>
            <a:off x="489240" y="1118880"/>
            <a:ext cx="4618800" cy="461880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/>
          <p:cNvSpPr txBox="1"/>
          <p:nvPr/>
        </p:nvSpPr>
        <p:spPr>
          <a:xfrm>
            <a:off x="1171080" y="1396800"/>
            <a:ext cx="3328560" cy="4063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Test-Konzept</a:t>
            </a:r>
            <a:br>
              <a:rPr b="0" i="0" lang="de-CH" sz="1800" u="none" cap="none" strike="noStrike"/>
            </a:b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de-CH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Static Testing</a:t>
            </a:r>
            <a:r>
              <a:rPr b="1" i="0" lang="de-CH" sz="3600" u="none" cap="none" strike="noStrike">
                <a:solidFill>
                  <a:srgbClr val="80808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910080" y="4781160"/>
            <a:ext cx="545040" cy="54504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9"/>
          <p:cNvSpPr txBox="1"/>
          <p:nvPr/>
        </p:nvSpPr>
        <p:spPr>
          <a:xfrm>
            <a:off x="5400000" y="576000"/>
            <a:ext cx="6768000" cy="48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0" lang="de-CH" sz="3200" u="none" cap="none" strike="noStrike">
                <a:latin typeface="Arial"/>
                <a:ea typeface="Arial"/>
                <a:cs typeface="Arial"/>
                <a:sym typeface="Arial"/>
              </a:rPr>
              <a:t>für Entwickler </a:t>
            </a:r>
            <a:endParaRPr b="0" i="0" sz="32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Code Reviews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Clean Code mit Lint / TSLint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-324000" lvl="1" marL="8640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b="0" i="0" lang="de-CH" sz="2800" u="none" cap="none" strike="noStrike">
                <a:latin typeface="Arial"/>
                <a:ea typeface="Arial"/>
                <a:cs typeface="Arial"/>
                <a:sym typeface="Arial"/>
              </a:rPr>
              <a:t>eventuell SonarQUBE</a:t>
            </a:r>
            <a:endParaRPr b="0" i="0" sz="28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